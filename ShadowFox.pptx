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9" r:id="rId10"/>
    <p:sldId id="267" r:id="rId11"/>
    <p:sldId id="268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F6B0DF-B99A-4D09-9D90-AC52041108A1}" v="1" dt="2026-09-28T04:52:20.79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hya v" userId="fb18ae4c08c08549" providerId="LiveId" clId="{3681F35A-3303-4042-AAFE-5B72D8D89031}"/>
    <pc:docChg chg="undo custSel addSld delSld modSld">
      <pc:chgData name="sathya v" userId="fb18ae4c08c08549" providerId="LiveId" clId="{3681F35A-3303-4042-AAFE-5B72D8D89031}" dt="2026-09-28T04:54:28.245" v="393" actId="1076"/>
      <pc:docMkLst>
        <pc:docMk/>
      </pc:docMkLst>
      <pc:sldChg chg="modSp mod">
        <pc:chgData name="sathya v" userId="fb18ae4c08c08549" providerId="LiveId" clId="{3681F35A-3303-4042-AAFE-5B72D8D89031}" dt="2026-09-25T06:47:22.267" v="84" actId="20577"/>
        <pc:sldMkLst>
          <pc:docMk/>
          <pc:sldMk cId="0" sldId="256"/>
        </pc:sldMkLst>
        <pc:spChg chg="mod">
          <ac:chgData name="sathya v" userId="fb18ae4c08c08549" providerId="LiveId" clId="{3681F35A-3303-4042-AAFE-5B72D8D89031}" dt="2026-09-25T06:46:43.950" v="27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sathya v" userId="fb18ae4c08c08549" providerId="LiveId" clId="{3681F35A-3303-4042-AAFE-5B72D8D89031}" dt="2026-09-25T06:47:22.267" v="84" actId="20577"/>
          <ac:spMkLst>
            <pc:docMk/>
            <pc:sldMk cId="0" sldId="256"/>
            <ac:spMk id="8" creationId="{00000000-0000-0000-0000-000000000000}"/>
          </ac:spMkLst>
        </pc:spChg>
      </pc:sldChg>
      <pc:sldChg chg="addSp delSp modSp mod">
        <pc:chgData name="sathya v" userId="fb18ae4c08c08549" providerId="LiveId" clId="{3681F35A-3303-4042-AAFE-5B72D8D89031}" dt="2026-09-25T07:24:37.051" v="219"/>
        <pc:sldMkLst>
          <pc:docMk/>
          <pc:sldMk cId="0" sldId="258"/>
        </pc:sldMkLst>
        <pc:spChg chg="add">
          <ac:chgData name="sathya v" userId="fb18ae4c08c08549" providerId="LiveId" clId="{3681F35A-3303-4042-AAFE-5B72D8D89031}" dt="2026-09-25T07:24:09.603" v="216" actId="22"/>
          <ac:spMkLst>
            <pc:docMk/>
            <pc:sldMk cId="0" sldId="258"/>
            <ac:spMk id="12" creationId="{718AE33E-1AAB-2CF8-00E4-4C0584C60251}"/>
          </ac:spMkLst>
        </pc:spChg>
        <pc:grpChg chg="mod">
          <ac:chgData name="sathya v" userId="fb18ae4c08c08549" providerId="LiveId" clId="{3681F35A-3303-4042-AAFE-5B72D8D89031}" dt="2026-09-25T07:24:16.966" v="217" actId="1076"/>
          <ac:grpSpMkLst>
            <pc:docMk/>
            <pc:sldMk cId="0" sldId="258"/>
            <ac:grpSpMk id="2" creationId="{00000000-0000-0000-0000-000000000000}"/>
          </ac:grpSpMkLst>
        </pc:grpChg>
      </pc:sldChg>
      <pc:sldChg chg="modSp mod">
        <pc:chgData name="sathya v" userId="fb18ae4c08c08549" providerId="LiveId" clId="{3681F35A-3303-4042-AAFE-5B72D8D89031}" dt="2026-09-25T06:53:06.368" v="147" actId="20577"/>
        <pc:sldMkLst>
          <pc:docMk/>
          <pc:sldMk cId="0" sldId="259"/>
        </pc:sldMkLst>
        <pc:spChg chg="mod">
          <ac:chgData name="sathya v" userId="fb18ae4c08c08549" providerId="LiveId" clId="{3681F35A-3303-4042-AAFE-5B72D8D89031}" dt="2026-09-25T06:53:06.368" v="147" actId="20577"/>
          <ac:spMkLst>
            <pc:docMk/>
            <pc:sldMk cId="0" sldId="259"/>
            <ac:spMk id="3" creationId="{00000000-0000-0000-0000-000000000000}"/>
          </ac:spMkLst>
        </pc:spChg>
      </pc:sldChg>
      <pc:sldChg chg="addSp delSp modSp mod">
        <pc:chgData name="sathya v" userId="fb18ae4c08c08549" providerId="LiveId" clId="{3681F35A-3303-4042-AAFE-5B72D8D89031}" dt="2026-09-25T07:04:25.473" v="182" actId="1076"/>
        <pc:sldMkLst>
          <pc:docMk/>
          <pc:sldMk cId="0" sldId="260"/>
        </pc:sldMkLst>
        <pc:spChg chg="mod">
          <ac:chgData name="sathya v" userId="fb18ae4c08c08549" providerId="LiveId" clId="{3681F35A-3303-4042-AAFE-5B72D8D89031}" dt="2026-09-25T07:03:06.922" v="176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sathya v" userId="fb18ae4c08c08549" providerId="LiveId" clId="{3681F35A-3303-4042-AAFE-5B72D8D89031}" dt="2026-09-25T07:01:40.538" v="167" actId="20577"/>
          <ac:spMkLst>
            <pc:docMk/>
            <pc:sldMk cId="0" sldId="260"/>
            <ac:spMk id="3" creationId="{00000000-0000-0000-0000-000000000000}"/>
          </ac:spMkLst>
        </pc:spChg>
        <pc:picChg chg="add mod">
          <ac:chgData name="sathya v" userId="fb18ae4c08c08549" providerId="LiveId" clId="{3681F35A-3303-4042-AAFE-5B72D8D89031}" dt="2026-09-25T07:04:25.473" v="182" actId="1076"/>
          <ac:picMkLst>
            <pc:docMk/>
            <pc:sldMk cId="0" sldId="260"/>
            <ac:picMk id="6" creationId="{A822A6EE-742E-93E5-DADB-79166EFECAB5}"/>
          </ac:picMkLst>
        </pc:picChg>
      </pc:sldChg>
      <pc:sldChg chg="addSp delSp modSp mod">
        <pc:chgData name="sathya v" userId="fb18ae4c08c08549" providerId="LiveId" clId="{3681F35A-3303-4042-AAFE-5B72D8D89031}" dt="2026-09-25T07:18:39.945" v="192" actId="1076"/>
        <pc:sldMkLst>
          <pc:docMk/>
          <pc:sldMk cId="0" sldId="261"/>
        </pc:sldMkLst>
        <pc:spChg chg="mod">
          <ac:chgData name="sathya v" userId="fb18ae4c08c08549" providerId="LiveId" clId="{3681F35A-3303-4042-AAFE-5B72D8D89031}" dt="2026-09-25T07:04:56.469" v="184"/>
          <ac:spMkLst>
            <pc:docMk/>
            <pc:sldMk cId="0" sldId="261"/>
            <ac:spMk id="2" creationId="{00000000-0000-0000-0000-000000000000}"/>
          </ac:spMkLst>
        </pc:spChg>
        <pc:picChg chg="add mod">
          <ac:chgData name="sathya v" userId="fb18ae4c08c08549" providerId="LiveId" clId="{3681F35A-3303-4042-AAFE-5B72D8D89031}" dt="2026-09-25T07:18:39.945" v="192" actId="1076"/>
          <ac:picMkLst>
            <pc:docMk/>
            <pc:sldMk cId="0" sldId="261"/>
            <ac:picMk id="6" creationId="{7CF63360-2528-90AD-7E1D-04322706EDC9}"/>
          </ac:picMkLst>
        </pc:picChg>
      </pc:sldChg>
      <pc:sldChg chg="addSp delSp modSp mod">
        <pc:chgData name="sathya v" userId="fb18ae4c08c08549" providerId="LiveId" clId="{3681F35A-3303-4042-AAFE-5B72D8D89031}" dt="2026-09-25T07:23:33.445" v="214" actId="1076"/>
        <pc:sldMkLst>
          <pc:docMk/>
          <pc:sldMk cId="0" sldId="264"/>
        </pc:sldMkLst>
        <pc:spChg chg="mod">
          <ac:chgData name="sathya v" userId="fb18ae4c08c08549" providerId="LiveId" clId="{3681F35A-3303-4042-AAFE-5B72D8D89031}" dt="2026-09-25T07:22:24.381" v="205"/>
          <ac:spMkLst>
            <pc:docMk/>
            <pc:sldMk cId="0" sldId="264"/>
            <ac:spMk id="2" creationId="{00000000-0000-0000-0000-000000000000}"/>
          </ac:spMkLst>
        </pc:spChg>
        <pc:picChg chg="add mod">
          <ac:chgData name="sathya v" userId="fb18ae4c08c08549" providerId="LiveId" clId="{3681F35A-3303-4042-AAFE-5B72D8D89031}" dt="2026-09-25T07:23:33.445" v="214" actId="1076"/>
          <ac:picMkLst>
            <pc:docMk/>
            <pc:sldMk cId="0" sldId="264"/>
            <ac:picMk id="6" creationId="{4BA0BDF2-CBC6-85C3-A495-1488FC2048F3}"/>
          </ac:picMkLst>
        </pc:picChg>
      </pc:sldChg>
      <pc:sldChg chg="addSp delSp modSp mod">
        <pc:chgData name="sathya v" userId="fb18ae4c08c08549" providerId="LiveId" clId="{3681F35A-3303-4042-AAFE-5B72D8D89031}" dt="2026-09-25T07:20:16.224" v="200" actId="1076"/>
        <pc:sldMkLst>
          <pc:docMk/>
          <pc:sldMk cId="0" sldId="265"/>
        </pc:sldMkLst>
        <pc:spChg chg="mod">
          <ac:chgData name="sathya v" userId="fb18ae4c08c08549" providerId="LiveId" clId="{3681F35A-3303-4042-AAFE-5B72D8D89031}" dt="2026-09-25T07:19:37.516" v="194"/>
          <ac:spMkLst>
            <pc:docMk/>
            <pc:sldMk cId="0" sldId="265"/>
            <ac:spMk id="2" creationId="{00000000-0000-0000-0000-000000000000}"/>
          </ac:spMkLst>
        </pc:spChg>
        <pc:picChg chg="add mod">
          <ac:chgData name="sathya v" userId="fb18ae4c08c08549" providerId="LiveId" clId="{3681F35A-3303-4042-AAFE-5B72D8D89031}" dt="2026-09-25T07:20:16.224" v="200" actId="1076"/>
          <ac:picMkLst>
            <pc:docMk/>
            <pc:sldMk cId="0" sldId="265"/>
            <ac:picMk id="6" creationId="{6A5B78A5-F4B4-AFB4-9BFA-863B8BF5387F}"/>
          </ac:picMkLst>
        </pc:picChg>
      </pc:sldChg>
      <pc:sldChg chg="addSp delSp modSp mod">
        <pc:chgData name="sathya v" userId="fb18ae4c08c08549" providerId="LiveId" clId="{3681F35A-3303-4042-AAFE-5B72D8D89031}" dt="2026-09-25T07:26:55.116" v="312"/>
        <pc:sldMkLst>
          <pc:docMk/>
          <pc:sldMk cId="0" sldId="267"/>
        </pc:sldMkLst>
        <pc:spChg chg="mod">
          <ac:chgData name="sathya v" userId="fb18ae4c08c08549" providerId="LiveId" clId="{3681F35A-3303-4042-AAFE-5B72D8D89031}" dt="2026-09-25T07:25:22.951" v="221" actId="20577"/>
          <ac:spMkLst>
            <pc:docMk/>
            <pc:sldMk cId="0" sldId="267"/>
            <ac:spMk id="3" creationId="{00000000-0000-0000-0000-000000000000}"/>
          </ac:spMkLst>
        </pc:spChg>
        <pc:spChg chg="add del mod">
          <ac:chgData name="sathya v" userId="fb18ae4c08c08549" providerId="LiveId" clId="{3681F35A-3303-4042-AAFE-5B72D8D89031}" dt="2026-09-25T07:26:19.738" v="272" actId="47"/>
          <ac:spMkLst>
            <pc:docMk/>
            <pc:sldMk cId="0" sldId="267"/>
            <ac:spMk id="8" creationId="{00000000-0000-0000-0000-000000000000}"/>
          </ac:spMkLst>
        </pc:spChg>
        <pc:spChg chg="mod">
          <ac:chgData name="sathya v" userId="fb18ae4c08c08549" providerId="LiveId" clId="{3681F35A-3303-4042-AAFE-5B72D8D89031}" dt="2026-09-25T07:26:45.009" v="309" actId="1076"/>
          <ac:spMkLst>
            <pc:docMk/>
            <pc:sldMk cId="0" sldId="267"/>
            <ac:spMk id="9" creationId="{00000000-0000-0000-0000-000000000000}"/>
          </ac:spMkLst>
        </pc:spChg>
        <pc:spChg chg="add del mod">
          <ac:chgData name="sathya v" userId="fb18ae4c08c08549" providerId="LiveId" clId="{3681F35A-3303-4042-AAFE-5B72D8D89031}" dt="2026-09-25T07:26:18.384" v="271" actId="47"/>
          <ac:spMkLst>
            <pc:docMk/>
            <pc:sldMk cId="0" sldId="267"/>
            <ac:spMk id="11" creationId="{00000000-0000-0000-0000-000000000000}"/>
          </ac:spMkLst>
        </pc:spChg>
        <pc:grpChg chg="add del mod">
          <ac:chgData name="sathya v" userId="fb18ae4c08c08549" providerId="LiveId" clId="{3681F35A-3303-4042-AAFE-5B72D8D89031}" dt="2026-09-25T07:26:53.044" v="310" actId="14100"/>
          <ac:grpSpMkLst>
            <pc:docMk/>
            <pc:sldMk cId="0" sldId="267"/>
            <ac:grpSpMk id="5" creationId="{00000000-0000-0000-0000-000000000000}"/>
          </ac:grpSpMkLst>
        </pc:grpChg>
      </pc:sldChg>
      <pc:sldChg chg="addSp delSp modSp mod">
        <pc:chgData name="sathya v" userId="fb18ae4c08c08549" providerId="LiveId" clId="{3681F35A-3303-4042-AAFE-5B72D8D89031}" dt="2026-09-25T07:30:15.404" v="360" actId="478"/>
        <pc:sldMkLst>
          <pc:docMk/>
          <pc:sldMk cId="0" sldId="268"/>
        </pc:sldMkLst>
        <pc:spChg chg="add mod">
          <ac:chgData name="sathya v" userId="fb18ae4c08c08549" providerId="LiveId" clId="{3681F35A-3303-4042-AAFE-5B72D8D89031}" dt="2026-09-25T07:29:36.891" v="358" actId="1076"/>
          <ac:spMkLst>
            <pc:docMk/>
            <pc:sldMk cId="0" sldId="268"/>
            <ac:spMk id="7" creationId="{2165D048-0FFF-0929-76AB-28B1AFAD1487}"/>
          </ac:spMkLst>
        </pc:spChg>
      </pc:sldChg>
      <pc:sldChg chg="addSp delSp modSp new mod">
        <pc:chgData name="sathya v" userId="fb18ae4c08c08549" providerId="LiveId" clId="{3681F35A-3303-4042-AAFE-5B72D8D89031}" dt="2026-09-28T04:54:28.245" v="393" actId="1076"/>
        <pc:sldMkLst>
          <pc:docMk/>
          <pc:sldMk cId="1485393528" sldId="269"/>
        </pc:sldMkLst>
        <pc:spChg chg="del mod">
          <ac:chgData name="sathya v" userId="fb18ae4c08c08549" providerId="LiveId" clId="{3681F35A-3303-4042-AAFE-5B72D8D89031}" dt="2026-09-28T04:51:19.065" v="365" actId="478"/>
          <ac:spMkLst>
            <pc:docMk/>
            <pc:sldMk cId="1485393528" sldId="269"/>
            <ac:spMk id="2" creationId="{CF39D08D-6FAE-F0AF-3CAF-5AA0EB510853}"/>
          </ac:spMkLst>
        </pc:spChg>
        <pc:spChg chg="mod">
          <ac:chgData name="sathya v" userId="fb18ae4c08c08549" providerId="LiveId" clId="{3681F35A-3303-4042-AAFE-5B72D8D89031}" dt="2026-09-28T04:53:40.878" v="389" actId="14100"/>
          <ac:spMkLst>
            <pc:docMk/>
            <pc:sldMk cId="1485393528" sldId="269"/>
            <ac:spMk id="3" creationId="{7A4C37B8-3148-4FFE-3C65-38C52D11792D}"/>
          </ac:spMkLst>
        </pc:spChg>
        <pc:spChg chg="add mod">
          <ac:chgData name="sathya v" userId="fb18ae4c08c08549" providerId="LiveId" clId="{3681F35A-3303-4042-AAFE-5B72D8D89031}" dt="2026-09-28T04:53:28.680" v="387" actId="1076"/>
          <ac:spMkLst>
            <pc:docMk/>
            <pc:sldMk cId="1485393528" sldId="269"/>
            <ac:spMk id="5" creationId="{1D545BA8-102C-0224-A5D7-CA7C09B8A1A4}"/>
          </ac:spMkLst>
        </pc:spChg>
        <pc:picChg chg="add mod">
          <ac:chgData name="sathya v" userId="fb18ae4c08c08549" providerId="LiveId" clId="{3681F35A-3303-4042-AAFE-5B72D8D89031}" dt="2026-09-28T04:54:28.245" v="393" actId="1076"/>
          <ac:picMkLst>
            <pc:docMk/>
            <pc:sldMk cId="1485393528" sldId="269"/>
            <ac:picMk id="7" creationId="{20CE084C-3E65-AD80-70B1-0CAD0B8BEBAD}"/>
          </ac:picMkLst>
        </pc:picChg>
      </pc:sldChg>
      <pc:sldChg chg="new del">
        <pc:chgData name="sathya v" userId="fb18ae4c08c08549" providerId="LiveId" clId="{3681F35A-3303-4042-AAFE-5B72D8D89031}" dt="2026-09-28T04:50:52.716" v="362" actId="47"/>
        <pc:sldMkLst>
          <pc:docMk/>
          <pc:sldMk cId="3554371098" sldId="2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14C7C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4C7C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4C7C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35714" y="1485301"/>
            <a:ext cx="9121140" cy="3887470"/>
          </a:xfrm>
          <a:custGeom>
            <a:avLst/>
            <a:gdLst/>
            <a:ahLst/>
            <a:cxnLst/>
            <a:rect l="l" t="t" r="r" b="b"/>
            <a:pathLst>
              <a:path w="9121140" h="3887470">
                <a:moveTo>
                  <a:pt x="9120569" y="3887395"/>
                </a:moveTo>
                <a:lnTo>
                  <a:pt x="0" y="3887395"/>
                </a:lnTo>
                <a:lnTo>
                  <a:pt x="0" y="0"/>
                </a:lnTo>
                <a:lnTo>
                  <a:pt x="9120569" y="0"/>
                </a:lnTo>
                <a:lnTo>
                  <a:pt x="9120569" y="3887395"/>
                </a:lnTo>
                <a:close/>
              </a:path>
            </a:pathLst>
          </a:custGeom>
          <a:solidFill>
            <a:srgbClr val="E9F4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4C7C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49223" y="2667000"/>
            <a:ext cx="0" cy="3124200"/>
          </a:xfrm>
          <a:custGeom>
            <a:avLst/>
            <a:gdLst/>
            <a:ahLst/>
            <a:cxnLst/>
            <a:rect l="l" t="t" r="r" b="b"/>
            <a:pathLst>
              <a:path h="3124200">
                <a:moveTo>
                  <a:pt x="0" y="0"/>
                </a:moveTo>
                <a:lnTo>
                  <a:pt x="0" y="3124199"/>
                </a:lnTo>
              </a:path>
            </a:pathLst>
          </a:custGeom>
          <a:ln w="12699">
            <a:solidFill>
              <a:srgbClr val="96D3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64406" y="573260"/>
            <a:ext cx="1718945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14C7C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86735" y="1263937"/>
            <a:ext cx="9580245" cy="432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C7DB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04800" y="266700"/>
            <a:ext cx="11582400" cy="6324600"/>
            <a:chOff x="304800" y="266700"/>
            <a:chExt cx="11582400" cy="6324600"/>
          </a:xfrm>
        </p:grpSpPr>
        <p:sp>
          <p:nvSpPr>
            <p:cNvPr id="4" name="object 4"/>
            <p:cNvSpPr/>
            <p:nvPr/>
          </p:nvSpPr>
          <p:spPr>
            <a:xfrm>
              <a:off x="304800" y="266700"/>
              <a:ext cx="11582400" cy="6324600"/>
            </a:xfrm>
            <a:custGeom>
              <a:avLst/>
              <a:gdLst/>
              <a:ahLst/>
              <a:cxnLst/>
              <a:rect l="l" t="t" r="r" b="b"/>
              <a:pathLst>
                <a:path w="11582400" h="6324600">
                  <a:moveTo>
                    <a:pt x="11582399" y="6324598"/>
                  </a:moveTo>
                  <a:lnTo>
                    <a:pt x="0" y="6324598"/>
                  </a:lnTo>
                  <a:lnTo>
                    <a:pt x="0" y="0"/>
                  </a:lnTo>
                  <a:lnTo>
                    <a:pt x="11582399" y="0"/>
                  </a:lnTo>
                  <a:lnTo>
                    <a:pt x="11582399" y="63245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91212" y="5628221"/>
              <a:ext cx="409575" cy="88900"/>
            </a:xfrm>
            <a:custGeom>
              <a:avLst/>
              <a:gdLst/>
              <a:ahLst/>
              <a:cxnLst/>
              <a:rect l="l" t="t" r="r" b="b"/>
              <a:pathLst>
                <a:path w="409575" h="88900">
                  <a:moveTo>
                    <a:pt x="409574" y="88301"/>
                  </a:moveTo>
                  <a:lnTo>
                    <a:pt x="0" y="88301"/>
                  </a:lnTo>
                  <a:lnTo>
                    <a:pt x="0" y="0"/>
                  </a:lnTo>
                  <a:lnTo>
                    <a:pt x="409574" y="0"/>
                  </a:lnTo>
                  <a:lnTo>
                    <a:pt x="409574" y="88301"/>
                  </a:lnTo>
                  <a:close/>
                </a:path>
              </a:pathLst>
            </a:custGeom>
            <a:solidFill>
              <a:srgbClr val="96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619041" y="2059834"/>
            <a:ext cx="49466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0" spc="-229" dirty="0">
                <a:solidFill>
                  <a:srgbClr val="000000"/>
                </a:solidFill>
                <a:latin typeface="Arial MT"/>
                <a:cs typeface="Arial MT"/>
              </a:rPr>
              <a:t>D</a:t>
            </a:r>
            <a:r>
              <a:rPr lang="en-IN" sz="5400" b="0" spc="-229" dirty="0">
                <a:solidFill>
                  <a:srgbClr val="000000"/>
                </a:solidFill>
                <a:latin typeface="Arial MT"/>
                <a:cs typeface="Arial MT"/>
              </a:rPr>
              <a:t>ATA ANALYST</a:t>
            </a:r>
            <a:endParaRPr sz="54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71925" y="2729363"/>
            <a:ext cx="3447415" cy="1244600"/>
          </a:xfrm>
          <a:prstGeom prst="rect">
            <a:avLst/>
          </a:prstGeom>
        </p:spPr>
        <p:txBody>
          <a:bodyPr vert="horz" wrap="square" lIns="0" tIns="256540" rIns="0" bIns="0" rtlCol="0">
            <a:spAutoFit/>
          </a:bodyPr>
          <a:lstStyle/>
          <a:p>
            <a:pPr marL="12700" marR="5080" indent="1084580">
              <a:lnSpc>
                <a:spcPct val="66600"/>
              </a:lnSpc>
              <a:spcBef>
                <a:spcPts val="2020"/>
              </a:spcBef>
            </a:pPr>
            <a:r>
              <a:rPr sz="4800" spc="-430" dirty="0">
                <a:solidFill>
                  <a:srgbClr val="14C7C7"/>
                </a:solidFill>
                <a:latin typeface="Arial MT"/>
                <a:cs typeface="Arial MT"/>
              </a:rPr>
              <a:t>T</a:t>
            </a:r>
            <a:r>
              <a:rPr sz="4800" spc="114" dirty="0">
                <a:solidFill>
                  <a:srgbClr val="14C7C7"/>
                </a:solidFill>
                <a:latin typeface="Arial MT"/>
                <a:cs typeface="Arial MT"/>
              </a:rPr>
              <a:t>ask</a:t>
            </a:r>
            <a:r>
              <a:rPr sz="4800" spc="-25" dirty="0">
                <a:solidFill>
                  <a:srgbClr val="14C7C7"/>
                </a:solidFill>
                <a:latin typeface="Arial MT"/>
                <a:cs typeface="Arial MT"/>
              </a:rPr>
              <a:t> </a:t>
            </a:r>
            <a:r>
              <a:rPr sz="4800" spc="-10" dirty="0">
                <a:solidFill>
                  <a:srgbClr val="14C7C7"/>
                </a:solidFill>
                <a:latin typeface="Arial MT"/>
                <a:cs typeface="Arial MT"/>
              </a:rPr>
              <a:t>Presentation</a:t>
            </a:r>
            <a:endParaRPr sz="48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08139" y="4796577"/>
            <a:ext cx="1746250" cy="143924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000" spc="-25" dirty="0">
                <a:solidFill>
                  <a:srgbClr val="14C7C7"/>
                </a:solidFill>
                <a:latin typeface="Arial MT"/>
                <a:cs typeface="Arial MT"/>
              </a:rPr>
              <a:t>By:</a:t>
            </a:r>
            <a:endParaRPr sz="2000" dirty="0">
              <a:latin typeface="Arial MT"/>
              <a:cs typeface="Arial MT"/>
            </a:endParaRPr>
          </a:p>
          <a:p>
            <a:pPr marL="12700" marR="443230">
              <a:lnSpc>
                <a:spcPct val="123100"/>
              </a:lnSpc>
              <a:spcBef>
                <a:spcPts val="120"/>
              </a:spcBef>
            </a:pPr>
            <a:r>
              <a:rPr lang="en-IN" sz="1600" spc="-10" dirty="0">
                <a:latin typeface="Arial MT"/>
                <a:cs typeface="Arial MT"/>
              </a:rPr>
              <a:t>SATHYA V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Data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lang="en-IN" sz="1600" spc="-10" dirty="0">
                <a:latin typeface="Arial MT"/>
                <a:cs typeface="Arial MT"/>
              </a:rPr>
              <a:t>Analyst</a:t>
            </a:r>
            <a:endParaRPr sz="16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lang="en-IN" sz="2000" spc="-25" dirty="0" err="1">
                <a:solidFill>
                  <a:srgbClr val="14C7C7"/>
                </a:solidFill>
                <a:latin typeface="Arial MT"/>
                <a:cs typeface="Arial MT"/>
              </a:rPr>
              <a:t>september</a:t>
            </a:r>
            <a:r>
              <a:rPr sz="2000" spc="-25" dirty="0">
                <a:solidFill>
                  <a:srgbClr val="14C7C7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14C7C7"/>
                </a:solidFill>
                <a:latin typeface="Arial MT"/>
                <a:cs typeface="Arial MT"/>
              </a:rPr>
              <a:t>1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62848" y="0"/>
            <a:ext cx="7729220" cy="6858000"/>
            <a:chOff x="4462848" y="0"/>
            <a:chExt cx="7729220" cy="6858000"/>
          </a:xfrm>
        </p:grpSpPr>
        <p:sp>
          <p:nvSpPr>
            <p:cNvPr id="3" name="object 3"/>
            <p:cNvSpPr/>
            <p:nvPr/>
          </p:nvSpPr>
          <p:spPr>
            <a:xfrm>
              <a:off x="8610600" y="0"/>
              <a:ext cx="3581400" cy="6858000"/>
            </a:xfrm>
            <a:custGeom>
              <a:avLst/>
              <a:gdLst/>
              <a:ahLst/>
              <a:cxnLst/>
              <a:rect l="l" t="t" r="r" b="b"/>
              <a:pathLst>
                <a:path w="3581400" h="6858000">
                  <a:moveTo>
                    <a:pt x="35813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3581399" y="0"/>
                  </a:lnTo>
                  <a:lnTo>
                    <a:pt x="3581399" y="6857999"/>
                  </a:lnTo>
                  <a:close/>
                </a:path>
              </a:pathLst>
            </a:custGeom>
            <a:solidFill>
              <a:srgbClr val="C7DB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462848" y="685800"/>
              <a:ext cx="7119620" cy="5486400"/>
            </a:xfrm>
            <a:custGeom>
              <a:avLst/>
              <a:gdLst/>
              <a:ahLst/>
              <a:cxnLst/>
              <a:rect l="l" t="t" r="r" b="b"/>
              <a:pathLst>
                <a:path w="7119620" h="5486400">
                  <a:moveTo>
                    <a:pt x="7119551" y="5486401"/>
                  </a:moveTo>
                  <a:lnTo>
                    <a:pt x="0" y="5486401"/>
                  </a:lnTo>
                  <a:lnTo>
                    <a:pt x="0" y="0"/>
                  </a:lnTo>
                  <a:lnTo>
                    <a:pt x="7119551" y="0"/>
                  </a:lnTo>
                  <a:lnTo>
                    <a:pt x="7119551" y="54864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282700" y="1029106"/>
            <a:ext cx="337375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spc="-10" dirty="0">
                <a:solidFill>
                  <a:srgbClr val="000000"/>
                </a:solidFill>
                <a:latin typeface="Arial MT"/>
                <a:cs typeface="Arial MT"/>
              </a:rPr>
              <a:t>CONTENTS</a:t>
            </a:r>
            <a:endParaRPr sz="4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95400" y="2057400"/>
            <a:ext cx="411480" cy="0"/>
          </a:xfrm>
          <a:custGeom>
            <a:avLst/>
            <a:gdLst/>
            <a:ahLst/>
            <a:cxnLst/>
            <a:rect l="l" t="t" r="r" b="b"/>
            <a:pathLst>
              <a:path w="411480">
                <a:moveTo>
                  <a:pt x="0" y="0"/>
                </a:moveTo>
                <a:lnTo>
                  <a:pt x="411479" y="0"/>
                </a:lnTo>
              </a:path>
            </a:pathLst>
          </a:custGeom>
          <a:ln w="88899">
            <a:solidFill>
              <a:srgbClr val="96D3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480564" y="2441938"/>
            <a:ext cx="3013710" cy="149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765" indent="-26606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78765" algn="l"/>
              </a:tabLst>
            </a:pPr>
            <a:r>
              <a:rPr sz="2000" spc="-10" dirty="0">
                <a:latin typeface="Arial MT"/>
                <a:cs typeface="Arial MT"/>
              </a:rPr>
              <a:t>ACKNOWLEDGEMENT</a:t>
            </a:r>
            <a:endParaRPr sz="2000">
              <a:latin typeface="Arial MT"/>
              <a:cs typeface="Arial MT"/>
            </a:endParaRPr>
          </a:p>
          <a:p>
            <a:pPr marL="292735" indent="-280035">
              <a:lnSpc>
                <a:spcPct val="100000"/>
              </a:lnSpc>
              <a:spcBef>
                <a:spcPts val="2200"/>
              </a:spcBef>
              <a:buAutoNum type="arabicPeriod"/>
              <a:tabLst>
                <a:tab pos="292735" algn="l"/>
              </a:tabLst>
            </a:pPr>
            <a:r>
              <a:rPr sz="2000" spc="-10" dirty="0">
                <a:latin typeface="Arial MT"/>
                <a:cs typeface="Arial MT"/>
              </a:rPr>
              <a:t>BEGINNER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LEVEL</a:t>
            </a:r>
            <a:endParaRPr sz="2000">
              <a:latin typeface="Arial MT"/>
              <a:cs typeface="Arial MT"/>
            </a:endParaRPr>
          </a:p>
          <a:p>
            <a:pPr marL="292735" indent="-280035">
              <a:lnSpc>
                <a:spcPct val="100000"/>
              </a:lnSpc>
              <a:spcBef>
                <a:spcPts val="2200"/>
              </a:spcBef>
              <a:buAutoNum type="arabicPeriod"/>
              <a:tabLst>
                <a:tab pos="292735" algn="l"/>
              </a:tabLst>
            </a:pPr>
            <a:r>
              <a:rPr sz="2000" spc="-10" dirty="0">
                <a:latin typeface="Arial MT"/>
                <a:cs typeface="Arial MT"/>
              </a:rPr>
              <a:t>CONCLUSION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4145" y="6001640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96D3ED"/>
                </a:solidFill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3578860" cy="6858000"/>
            </a:xfrm>
            <a:custGeom>
              <a:avLst/>
              <a:gdLst/>
              <a:ahLst/>
              <a:cxnLst/>
              <a:rect l="l" t="t" r="r" b="b"/>
              <a:pathLst>
                <a:path w="3578860" h="6858000">
                  <a:moveTo>
                    <a:pt x="0" y="6857999"/>
                  </a:moveTo>
                  <a:lnTo>
                    <a:pt x="3578351" y="6857999"/>
                  </a:lnTo>
                  <a:lnTo>
                    <a:pt x="3578351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solidFill>
              <a:srgbClr val="BBE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42874" y="2667000"/>
              <a:ext cx="12700" cy="3124200"/>
            </a:xfrm>
            <a:custGeom>
              <a:avLst/>
              <a:gdLst/>
              <a:ahLst/>
              <a:cxnLst/>
              <a:rect l="l" t="t" r="r" b="b"/>
              <a:pathLst>
                <a:path w="12700" h="3124200">
                  <a:moveTo>
                    <a:pt x="0" y="0"/>
                  </a:moveTo>
                  <a:lnTo>
                    <a:pt x="12699" y="0"/>
                  </a:lnTo>
                  <a:lnTo>
                    <a:pt x="12699" y="3124199"/>
                  </a:lnTo>
                  <a:lnTo>
                    <a:pt x="0" y="31241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78352" y="0"/>
              <a:ext cx="8613775" cy="6858000"/>
            </a:xfrm>
            <a:custGeom>
              <a:avLst/>
              <a:gdLst/>
              <a:ahLst/>
              <a:cxnLst/>
              <a:rect l="l" t="t" r="r" b="b"/>
              <a:pathLst>
                <a:path w="8613775" h="6858000">
                  <a:moveTo>
                    <a:pt x="8613647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8613647" y="0"/>
                  </a:lnTo>
                  <a:lnTo>
                    <a:pt x="8613647" y="6857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2874" y="2667000"/>
              <a:ext cx="12700" cy="3124200"/>
            </a:xfrm>
            <a:custGeom>
              <a:avLst/>
              <a:gdLst/>
              <a:ahLst/>
              <a:cxnLst/>
              <a:rect l="l" t="t" r="r" b="b"/>
              <a:pathLst>
                <a:path w="12700" h="3124200">
                  <a:moveTo>
                    <a:pt x="0" y="0"/>
                  </a:moveTo>
                  <a:lnTo>
                    <a:pt x="12699" y="0"/>
                  </a:lnTo>
                  <a:lnTo>
                    <a:pt x="12699" y="3124199"/>
                  </a:lnTo>
                  <a:lnTo>
                    <a:pt x="0" y="31241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47344" y="2057400"/>
              <a:ext cx="411480" cy="0"/>
            </a:xfrm>
            <a:custGeom>
              <a:avLst/>
              <a:gdLst/>
              <a:ahLst/>
              <a:cxnLst/>
              <a:rect l="l" t="t" r="r" b="b"/>
              <a:pathLst>
                <a:path w="411479">
                  <a:moveTo>
                    <a:pt x="0" y="0"/>
                  </a:moveTo>
                  <a:lnTo>
                    <a:pt x="411479" y="0"/>
                  </a:lnTo>
                </a:path>
              </a:pathLst>
            </a:custGeom>
            <a:ln w="88899">
              <a:solidFill>
                <a:srgbClr val="96D3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4768137" y="1037077"/>
            <a:ext cx="43783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spc="-10" dirty="0">
                <a:solidFill>
                  <a:srgbClr val="000000"/>
                </a:solidFill>
                <a:latin typeface="Arial MT"/>
                <a:cs typeface="Arial MT"/>
              </a:rPr>
              <a:t>ACKNOWLEDGEMENT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4145" y="6001640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8AE33E-1AAB-2CF8-00E4-4C0584C60251}"/>
              </a:ext>
            </a:extLst>
          </p:cNvPr>
          <p:cNvSpPr txBox="1"/>
          <p:nvPr/>
        </p:nvSpPr>
        <p:spPr>
          <a:xfrm>
            <a:off x="2969342" y="2405576"/>
            <a:ext cx="6253316" cy="1569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Institutional &amp; Academic Support: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We would like to express our sincere gratitude to our institution, faculty members, and mentors for their continuous guidance, valuable feedback, and encouragement throughout the duration of this project.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Data &amp; Tool Providers: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We acknowledge the providers of the Starbucks nutritional dataset (starbucks_drinkMenu_expanded.xlsx) for supplying the dietary data, as well as the developers of Python, Pandas, and Power BI for providing the powerful analytical and visualization tools used to execute this study.</a:t>
            </a:r>
            <a:endParaRPr lang="en-IN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004832" y="517819"/>
            <a:ext cx="35255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BEGINNER</a:t>
            </a:r>
            <a:r>
              <a:rPr sz="3200" b="0" spc="-2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spc="-10" dirty="0">
                <a:solidFill>
                  <a:srgbClr val="000000"/>
                </a:solidFill>
                <a:latin typeface="Arial MT"/>
                <a:cs typeface="Arial MT"/>
              </a:rPr>
              <a:t>LEVEL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86735" y="1263937"/>
            <a:ext cx="9580245" cy="3541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u="heavy" spc="-20" dirty="0">
                <a:solidFill>
                  <a:srgbClr val="66DDCC"/>
                </a:solidFill>
                <a:uFill>
                  <a:solidFill>
                    <a:srgbClr val="66DDCC"/>
                  </a:solidFill>
                </a:uFill>
                <a:latin typeface="Arial"/>
                <a:cs typeface="Arial"/>
              </a:rPr>
              <a:t>Task:</a:t>
            </a:r>
            <a:r>
              <a:rPr b="1" spc="-100" dirty="0">
                <a:solidFill>
                  <a:srgbClr val="66DDCC"/>
                </a:solidFill>
                <a:latin typeface="Arial"/>
                <a:cs typeface="Arial"/>
              </a:rPr>
              <a:t> </a:t>
            </a:r>
            <a:r>
              <a:rPr spc="-20" dirty="0"/>
              <a:t>Comprehensive</a:t>
            </a:r>
            <a:r>
              <a:rPr spc="-120" dirty="0"/>
              <a:t> </a:t>
            </a:r>
            <a:r>
              <a:rPr dirty="0"/>
              <a:t>Analysis</a:t>
            </a:r>
            <a:r>
              <a:rPr spc="-55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Data</a:t>
            </a:r>
            <a:r>
              <a:rPr spc="-55" dirty="0"/>
              <a:t> </a:t>
            </a:r>
            <a:r>
              <a:rPr spc="-10" dirty="0"/>
              <a:t>Visualization</a:t>
            </a:r>
            <a:r>
              <a:rPr spc="-90" dirty="0"/>
              <a:t> </a:t>
            </a:r>
            <a:r>
              <a:rPr spc="-25" dirty="0"/>
              <a:t>Techniques</a:t>
            </a:r>
            <a:r>
              <a:rPr spc="-60" dirty="0"/>
              <a:t> </a:t>
            </a:r>
            <a:r>
              <a:rPr dirty="0"/>
              <a:t>using</a:t>
            </a:r>
            <a:r>
              <a:rPr spc="-55" dirty="0"/>
              <a:t> </a:t>
            </a:r>
            <a:r>
              <a:rPr dirty="0"/>
              <a:t>Matplotlib</a:t>
            </a:r>
            <a:r>
              <a:rPr spc="-60" dirty="0"/>
              <a:t> </a:t>
            </a:r>
            <a:r>
              <a:rPr spc="-25" dirty="0"/>
              <a:t>and </a:t>
            </a:r>
            <a:r>
              <a:rPr spc="-10" dirty="0"/>
              <a:t>Seaborn</a:t>
            </a:r>
          </a:p>
          <a:p>
            <a:pPr marL="297815" indent="-251460">
              <a:lnSpc>
                <a:spcPct val="100000"/>
              </a:lnSpc>
              <a:spcBef>
                <a:spcPts val="965"/>
              </a:spcBef>
              <a:buChar char="•"/>
              <a:tabLst>
                <a:tab pos="297815" algn="l"/>
              </a:tabLst>
            </a:pPr>
            <a:r>
              <a:rPr sz="1800" dirty="0"/>
              <a:t>Analyzed</a:t>
            </a:r>
            <a:r>
              <a:rPr sz="1800" spc="-30" dirty="0"/>
              <a:t> </a:t>
            </a:r>
            <a:r>
              <a:rPr sz="1800" dirty="0"/>
              <a:t>data</a:t>
            </a:r>
            <a:r>
              <a:rPr sz="1800" spc="-30" dirty="0"/>
              <a:t> </a:t>
            </a:r>
            <a:r>
              <a:rPr sz="1800" dirty="0"/>
              <a:t>visualization</a:t>
            </a:r>
            <a:r>
              <a:rPr sz="1800" spc="-30" dirty="0"/>
              <a:t> </a:t>
            </a:r>
            <a:r>
              <a:rPr sz="1800" dirty="0"/>
              <a:t>techniques</a:t>
            </a:r>
            <a:r>
              <a:rPr sz="1800" spc="-30" dirty="0"/>
              <a:t> </a:t>
            </a:r>
            <a:r>
              <a:rPr sz="1800" dirty="0"/>
              <a:t>using</a:t>
            </a:r>
            <a:r>
              <a:rPr sz="1800" spc="-30" dirty="0"/>
              <a:t> </a:t>
            </a:r>
            <a:r>
              <a:rPr sz="1800" dirty="0"/>
              <a:t>Matplotlib</a:t>
            </a:r>
            <a:r>
              <a:rPr sz="1800" spc="-30" dirty="0"/>
              <a:t> </a:t>
            </a:r>
            <a:r>
              <a:rPr sz="1800" dirty="0"/>
              <a:t>and</a:t>
            </a:r>
            <a:r>
              <a:rPr sz="1800" spc="-30" dirty="0"/>
              <a:t> </a:t>
            </a:r>
            <a:r>
              <a:rPr sz="1800" dirty="0"/>
              <a:t>Seaborn</a:t>
            </a:r>
            <a:r>
              <a:rPr sz="1800" spc="-30" dirty="0"/>
              <a:t> </a:t>
            </a:r>
            <a:r>
              <a:rPr sz="1800" dirty="0"/>
              <a:t>in</a:t>
            </a:r>
            <a:r>
              <a:rPr sz="1800" spc="-25" dirty="0"/>
              <a:t> </a:t>
            </a:r>
            <a:r>
              <a:rPr sz="1800" spc="-10" dirty="0"/>
              <a:t>Python.</a:t>
            </a:r>
            <a:endParaRPr sz="1800" dirty="0"/>
          </a:p>
          <a:p>
            <a:pPr marL="297815" indent="-251460">
              <a:lnSpc>
                <a:spcPct val="100000"/>
              </a:lnSpc>
              <a:spcBef>
                <a:spcPts val="1080"/>
              </a:spcBef>
              <a:buChar char="•"/>
              <a:tabLst>
                <a:tab pos="297815" algn="l"/>
              </a:tabLst>
            </a:pPr>
            <a:r>
              <a:rPr sz="1800" dirty="0"/>
              <a:t>Created</a:t>
            </a:r>
            <a:r>
              <a:rPr sz="1800" spc="-25" dirty="0"/>
              <a:t> </a:t>
            </a:r>
            <a:r>
              <a:rPr sz="1800" dirty="0"/>
              <a:t>various</a:t>
            </a:r>
            <a:r>
              <a:rPr sz="1800" spc="-15" dirty="0"/>
              <a:t> </a:t>
            </a:r>
            <a:r>
              <a:rPr sz="1800" dirty="0"/>
              <a:t>types</a:t>
            </a:r>
            <a:r>
              <a:rPr sz="1800" spc="-15" dirty="0"/>
              <a:t> </a:t>
            </a:r>
            <a:r>
              <a:rPr sz="1800" dirty="0"/>
              <a:t>of</a:t>
            </a:r>
            <a:r>
              <a:rPr sz="1800" spc="-10" dirty="0"/>
              <a:t> visualizations</a:t>
            </a:r>
            <a:endParaRPr sz="1800" dirty="0">
              <a:latin typeface="Arial MT"/>
              <a:cs typeface="Arial MT"/>
            </a:endParaRPr>
          </a:p>
          <a:p>
            <a:pPr marL="755015" lvl="1" indent="-251460">
              <a:lnSpc>
                <a:spcPct val="100000"/>
              </a:lnSpc>
              <a:spcBef>
                <a:spcPts val="1080"/>
              </a:spcBef>
              <a:buChar char="•"/>
              <a:tabLst>
                <a:tab pos="755015" algn="l"/>
              </a:tabLst>
            </a:pPr>
            <a:r>
              <a:rPr sz="1800" dirty="0">
                <a:latin typeface="Arial MT"/>
                <a:cs typeface="Arial MT"/>
              </a:rPr>
              <a:t>Bar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chart</a:t>
            </a:r>
            <a:endParaRPr sz="1800" dirty="0">
              <a:latin typeface="Arial MT"/>
              <a:cs typeface="Arial MT"/>
            </a:endParaRPr>
          </a:p>
          <a:p>
            <a:pPr marL="755015" lvl="1" indent="-251460">
              <a:lnSpc>
                <a:spcPct val="100000"/>
              </a:lnSpc>
              <a:spcBef>
                <a:spcPts val="1080"/>
              </a:spcBef>
              <a:buChar char="•"/>
              <a:tabLst>
                <a:tab pos="755015" algn="l"/>
              </a:tabLst>
            </a:pPr>
            <a:r>
              <a:rPr sz="1800" dirty="0">
                <a:latin typeface="Arial MT"/>
                <a:cs typeface="Arial MT"/>
              </a:rPr>
              <a:t>Scatter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plot</a:t>
            </a:r>
            <a:endParaRPr lang="en-IN" sz="1800" dirty="0">
              <a:latin typeface="Arial MT"/>
              <a:cs typeface="Arial MT"/>
            </a:endParaRPr>
          </a:p>
          <a:p>
            <a:pPr marL="755015" lvl="1" indent="-251460">
              <a:lnSpc>
                <a:spcPct val="100000"/>
              </a:lnSpc>
              <a:spcBef>
                <a:spcPts val="1080"/>
              </a:spcBef>
              <a:buChar char="•"/>
              <a:tabLst>
                <a:tab pos="755015" algn="l"/>
              </a:tabLst>
            </a:pPr>
            <a:r>
              <a:rPr lang="en-IN" sz="1800" dirty="0">
                <a:latin typeface="Arial MT"/>
                <a:cs typeface="Arial MT"/>
              </a:rPr>
              <a:t>Pie</a:t>
            </a:r>
            <a:r>
              <a:rPr lang="en-IN" sz="1800" spc="-15" dirty="0">
                <a:latin typeface="Arial MT"/>
                <a:cs typeface="Arial MT"/>
              </a:rPr>
              <a:t> </a:t>
            </a:r>
            <a:r>
              <a:rPr lang="en-IN" sz="1800" spc="-10" dirty="0">
                <a:latin typeface="Arial MT"/>
                <a:cs typeface="Arial MT"/>
              </a:rPr>
              <a:t>chart</a:t>
            </a:r>
            <a:endParaRPr lang="en-IN" sz="1800" dirty="0">
              <a:latin typeface="Arial MT"/>
              <a:cs typeface="Arial MT"/>
            </a:endParaRPr>
          </a:p>
          <a:p>
            <a:pPr marL="755015" lvl="1" indent="-251460">
              <a:lnSpc>
                <a:spcPct val="100000"/>
              </a:lnSpc>
              <a:spcBef>
                <a:spcPts val="1080"/>
              </a:spcBef>
              <a:buChar char="•"/>
              <a:tabLst>
                <a:tab pos="755015" algn="l"/>
              </a:tabLst>
            </a:pPr>
            <a:r>
              <a:rPr sz="1800" dirty="0">
                <a:latin typeface="Arial MT"/>
                <a:cs typeface="Arial MT"/>
              </a:rPr>
              <a:t>Box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plot</a:t>
            </a:r>
            <a:endParaRPr lang="en-IN" sz="1800" spc="-20" dirty="0">
              <a:latin typeface="Arial MT"/>
              <a:cs typeface="Arial MT"/>
            </a:endParaRPr>
          </a:p>
          <a:p>
            <a:pPr marL="755015" lvl="1" indent="-251460">
              <a:lnSpc>
                <a:spcPct val="100000"/>
              </a:lnSpc>
              <a:spcBef>
                <a:spcPts val="1080"/>
              </a:spcBef>
              <a:buChar char="•"/>
              <a:tabLst>
                <a:tab pos="755015" algn="l"/>
              </a:tabLst>
            </a:pPr>
            <a:r>
              <a:rPr lang="en-IN" sz="1800" dirty="0">
                <a:latin typeface="Arial MT"/>
                <a:cs typeface="Arial MT"/>
              </a:rPr>
              <a:t>Pair</a:t>
            </a:r>
            <a:r>
              <a:rPr lang="en-IN" sz="1800" spc="-5" dirty="0">
                <a:latin typeface="Arial MT"/>
                <a:cs typeface="Arial MT"/>
              </a:rPr>
              <a:t> </a:t>
            </a:r>
            <a:r>
              <a:rPr lang="en-IN" sz="1800" spc="-20" dirty="0">
                <a:latin typeface="Arial MT"/>
                <a:cs typeface="Arial MT"/>
              </a:rPr>
              <a:t>plot</a:t>
            </a:r>
            <a:endParaRPr lang="en-IN"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20" dirty="0"/>
              <a:t>Bar Chart</a:t>
            </a:r>
            <a:endParaRPr spc="-20" dirty="0"/>
          </a:p>
        </p:txBody>
      </p:sp>
      <p:sp>
        <p:nvSpPr>
          <p:cNvPr id="2" name="object 2"/>
          <p:cNvSpPr txBox="1"/>
          <p:nvPr/>
        </p:nvSpPr>
        <p:spPr>
          <a:xfrm>
            <a:off x="1198673" y="1030301"/>
            <a:ext cx="9859010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/>
            <a:r>
              <a:rPr lang="en-IN" b="1" dirty="0"/>
              <a:t>Key Takeaway:</a:t>
            </a:r>
            <a:r>
              <a:rPr lang="en-IN" dirty="0"/>
              <a:t> Compares the average caloric content across different Starbucks beverage categories using a horizontal bar chart.</a:t>
            </a:r>
          </a:p>
          <a:p>
            <a:pPr lvl="0"/>
            <a:r>
              <a:rPr lang="en-IN" b="1" dirty="0"/>
              <a:t>What it Tells:</a:t>
            </a:r>
            <a:r>
              <a:rPr lang="en-IN" dirty="0"/>
              <a:t> Highlights which specific drink categories have the highest average energy levels per serving, establishing baseline caloric trends across the menu.</a:t>
            </a:r>
          </a:p>
          <a:p>
            <a:pPr lvl="0"/>
            <a:r>
              <a:rPr lang="en-IN" b="1" dirty="0"/>
              <a:t>Business Insight:</a:t>
            </a:r>
            <a:r>
              <a:rPr lang="en-IN" dirty="0"/>
              <a:t> Helps identify high-calorie categories to guide targeted menu optimization and nutritional awareness.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22A6EE-742E-93E5-DADB-79166EFEC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6480" y="2780832"/>
            <a:ext cx="6096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Scatter</a:t>
            </a:r>
            <a:r>
              <a:rPr spc="-120" dirty="0"/>
              <a:t> </a:t>
            </a:r>
            <a:r>
              <a:rPr spc="-20" dirty="0"/>
              <a:t>Plot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198673" y="1030301"/>
            <a:ext cx="9952990" cy="1964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/>
            <a:r>
              <a:rPr lang="en-IN" b="1" dirty="0"/>
              <a:t>Key Takeaway:</a:t>
            </a:r>
            <a:r>
              <a:rPr lang="en-IN" dirty="0"/>
              <a:t> Maps the direct correlation between sugar content (grams) and total calories across all beverages.</a:t>
            </a:r>
          </a:p>
          <a:p>
            <a:pPr lvl="0"/>
            <a:r>
              <a:rPr lang="en-IN" b="1" dirty="0"/>
              <a:t>What it Tells:</a:t>
            </a:r>
            <a:r>
              <a:rPr lang="en-IN" dirty="0"/>
              <a:t> Demonstrates a clear positive correlation—as sugar levels increase, total calories rise proportionally, with specialty blended drinks clustering at the higher end.</a:t>
            </a:r>
          </a:p>
          <a:p>
            <a:pPr lvl="0"/>
            <a:r>
              <a:rPr lang="en-IN" b="1" dirty="0"/>
              <a:t>Business Insight:</a:t>
            </a:r>
            <a:r>
              <a:rPr lang="en-IN" dirty="0"/>
              <a:t> Pinpoints the primary driver of high caloric counts, supporting recommendations to introduce lower-sugar alternatives.</a:t>
            </a:r>
          </a:p>
          <a:p>
            <a:pPr marL="264160" marR="5080" indent="-252095">
              <a:lnSpc>
                <a:spcPct val="100000"/>
              </a:lnSpc>
              <a:spcBef>
                <a:spcPts val="100"/>
              </a:spcBef>
              <a:buChar char="•"/>
              <a:tabLst>
                <a:tab pos="264160" algn="l"/>
              </a:tabLst>
            </a:pPr>
            <a:endParaRPr sz="1800" dirty="0">
              <a:latin typeface="Arial MT"/>
              <a:cs typeface="Arial M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F63360-2528-90AD-7E1D-04322706E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819400"/>
            <a:ext cx="5562600" cy="36662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Pie</a:t>
            </a:r>
            <a:r>
              <a:rPr spc="-15" dirty="0"/>
              <a:t> </a:t>
            </a:r>
            <a:r>
              <a:rPr spc="-10" dirty="0"/>
              <a:t>Chart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198673" y="1030301"/>
            <a:ext cx="9926955" cy="25186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1"/>
            <a:r>
              <a:rPr lang="en-IN" dirty="0"/>
              <a:t>Displays the percentage share and proportional distribution of different beverage categories across the entire Starbucks menu.</a:t>
            </a:r>
          </a:p>
          <a:p>
            <a:pPr lvl="0"/>
            <a:r>
              <a:rPr lang="en-IN" b="1" dirty="0"/>
              <a:t>What it Tells:</a:t>
            </a:r>
            <a:endParaRPr lang="en-IN" dirty="0"/>
          </a:p>
          <a:p>
            <a:pPr lvl="1"/>
            <a:r>
              <a:rPr lang="en-IN" dirty="0"/>
              <a:t>Highlights which specific drink categories dominate the menu in terms of total item volume (e.g., showing which category holds the largest or smallest product share).</a:t>
            </a:r>
          </a:p>
          <a:p>
            <a:pPr lvl="0"/>
            <a:r>
              <a:rPr lang="en-IN" b="1" dirty="0"/>
              <a:t>Business Insight:</a:t>
            </a:r>
            <a:endParaRPr lang="en-IN" dirty="0"/>
          </a:p>
          <a:p>
            <a:pPr lvl="1"/>
            <a:r>
              <a:rPr lang="en-IN" dirty="0"/>
              <a:t>Helps management and analysts evaluate product concentration and menu variety to see if certain categories are over-represented compared to others.</a:t>
            </a:r>
          </a:p>
          <a:p>
            <a:pPr marL="264160" marR="5080" indent="-252095">
              <a:lnSpc>
                <a:spcPct val="100000"/>
              </a:lnSpc>
              <a:spcBef>
                <a:spcPts val="100"/>
              </a:spcBef>
              <a:buChar char="•"/>
              <a:tabLst>
                <a:tab pos="264160" algn="l"/>
              </a:tabLst>
            </a:pPr>
            <a:endParaRPr sz="1800" dirty="0">
              <a:latin typeface="Arial MT"/>
              <a:cs typeface="Arial M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A0BDF2-CBC6-85C3-A495-1488FC204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3276600"/>
            <a:ext cx="4334536" cy="3276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Box</a:t>
            </a:r>
            <a:r>
              <a:rPr spc="-65" dirty="0"/>
              <a:t> </a:t>
            </a:r>
            <a:r>
              <a:rPr spc="-20" dirty="0"/>
              <a:t>Plot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198673" y="1030301"/>
            <a:ext cx="9826625" cy="1964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/>
            <a:r>
              <a:rPr lang="en-IN" b="1" dirty="0"/>
              <a:t>Key Takeaway:</a:t>
            </a:r>
            <a:r>
              <a:rPr lang="en-IN" dirty="0"/>
              <a:t> </a:t>
            </a:r>
            <a:r>
              <a:rPr lang="en-IN" dirty="0" err="1"/>
              <a:t>Analyzes</a:t>
            </a:r>
            <a:r>
              <a:rPr lang="en-IN" dirty="0"/>
              <a:t> the spread, median, and quartile distribution of calories within each beverage category.</a:t>
            </a:r>
          </a:p>
          <a:p>
            <a:pPr lvl="0"/>
            <a:r>
              <a:rPr lang="en-IN" b="1" dirty="0"/>
              <a:t>What it Tells:</a:t>
            </a:r>
            <a:r>
              <a:rPr lang="en-IN" dirty="0"/>
              <a:t> Effectively isolates </a:t>
            </a:r>
            <a:r>
              <a:rPr lang="en-IN" b="1" dirty="0"/>
              <a:t>outliers</a:t>
            </a:r>
            <a:r>
              <a:rPr lang="en-IN" dirty="0"/>
              <a:t> (extreme high-calorie or low-calorie menu items) that deviate from standard category averages.</a:t>
            </a:r>
          </a:p>
          <a:p>
            <a:pPr lvl="0"/>
            <a:r>
              <a:rPr lang="en-IN" b="1" dirty="0"/>
              <a:t>Business Insight:</a:t>
            </a:r>
            <a:r>
              <a:rPr lang="en-IN" dirty="0"/>
              <a:t> Uncovers "hidden calories" in specialty items, providing actionable data for default recipe modifications and portion control.</a:t>
            </a:r>
          </a:p>
          <a:p>
            <a:pPr marL="264160" marR="5080" indent="-252095">
              <a:lnSpc>
                <a:spcPct val="100000"/>
              </a:lnSpc>
              <a:spcBef>
                <a:spcPts val="100"/>
              </a:spcBef>
              <a:buChar char="•"/>
              <a:tabLst>
                <a:tab pos="264160" algn="l"/>
              </a:tabLst>
            </a:pPr>
            <a:endParaRPr sz="1800" dirty="0">
              <a:latin typeface="Arial MT"/>
              <a:cs typeface="Arial M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5B78A5-F4B4-AFB4-9BFA-863B8BF53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2819400"/>
            <a:ext cx="7162800" cy="35707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4C37B8-3148-4FFE-3C65-38C52D117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6735" y="995065"/>
            <a:ext cx="9580245" cy="2814935"/>
          </a:xfrm>
        </p:spPr>
        <p:txBody>
          <a:bodyPr/>
          <a:lstStyle/>
          <a:p>
            <a:pPr lvl="0"/>
            <a:r>
              <a:rPr lang="en-IN" b="1" dirty="0"/>
              <a:t>Key Takeaway:</a:t>
            </a:r>
            <a:endParaRPr lang="en-IN" dirty="0"/>
          </a:p>
          <a:p>
            <a:pPr lvl="1"/>
            <a:r>
              <a:rPr lang="en-IN" dirty="0"/>
              <a:t>Visualizes the simultaneous pairwise relationships and distribution patterns across multiple nutritional metrics (Calories, Sugars, Total Fat, and Caffeine).</a:t>
            </a:r>
          </a:p>
          <a:p>
            <a:pPr lvl="0"/>
            <a:r>
              <a:rPr lang="en-IN" b="1" dirty="0"/>
              <a:t>What it Tells:</a:t>
            </a:r>
            <a:endParaRPr lang="en-IN" dirty="0"/>
          </a:p>
          <a:p>
            <a:pPr lvl="1"/>
            <a:r>
              <a:rPr lang="en-IN" dirty="0"/>
              <a:t>Displays scatter plots for every combination of variables to check for correlations, while the diagonal plots show the individual distribution curve (KDE) of each metric.</a:t>
            </a:r>
          </a:p>
          <a:p>
            <a:pPr lvl="0"/>
            <a:r>
              <a:rPr lang="en-IN" b="1" dirty="0"/>
              <a:t>Business Insight:</a:t>
            </a:r>
            <a:endParaRPr lang="en-IN" dirty="0"/>
          </a:p>
          <a:p>
            <a:pPr lvl="1"/>
            <a:r>
              <a:rPr lang="en-IN" dirty="0"/>
              <a:t>Provides a comprehensive multi-dimensional overview of how different nutritional components interact across the Starbucks menu items at a single glance.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545BA8-102C-0224-A5D7-CA7C09B8A1A4}"/>
              </a:ext>
            </a:extLst>
          </p:cNvPr>
          <p:cNvSpPr txBox="1"/>
          <p:nvPr/>
        </p:nvSpPr>
        <p:spPr>
          <a:xfrm>
            <a:off x="762000" y="53340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spc="-65" dirty="0">
                <a:solidFill>
                  <a:schemeClr val="accent5">
                    <a:lumMod val="75000"/>
                  </a:schemeClr>
                </a:solidFill>
              </a:rPr>
              <a:t>Pair </a:t>
            </a:r>
            <a:r>
              <a:rPr lang="en-IN" sz="2400" spc="-20" dirty="0">
                <a:solidFill>
                  <a:schemeClr val="accent5">
                    <a:lumMod val="75000"/>
                  </a:schemeClr>
                </a:solidFill>
              </a:rPr>
              <a:t>Plot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CE084C-3E65-AD80-70B1-0CAD0B8BE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980" y="3276600"/>
            <a:ext cx="3429000" cy="331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393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90259" y="1536191"/>
            <a:ext cx="411480" cy="0"/>
          </a:xfrm>
          <a:custGeom>
            <a:avLst/>
            <a:gdLst/>
            <a:ahLst/>
            <a:cxnLst/>
            <a:rect l="l" t="t" r="r" b="b"/>
            <a:pathLst>
              <a:path w="411479">
                <a:moveTo>
                  <a:pt x="0" y="0"/>
                </a:moveTo>
                <a:lnTo>
                  <a:pt x="411479" y="0"/>
                </a:lnTo>
              </a:path>
            </a:pathLst>
          </a:custGeom>
          <a:ln w="88899">
            <a:solidFill>
              <a:srgbClr val="96D3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271168" y="513994"/>
            <a:ext cx="4339432" cy="763671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604645" marR="5080" indent="-1592580">
              <a:lnSpc>
                <a:spcPts val="5180"/>
              </a:lnSpc>
              <a:spcBef>
                <a:spcPts val="755"/>
              </a:spcBef>
            </a:pPr>
            <a:r>
              <a:rPr sz="4800" b="0" spc="-10" dirty="0">
                <a:solidFill>
                  <a:srgbClr val="000000"/>
                </a:solidFill>
                <a:latin typeface="Arial MT"/>
                <a:cs typeface="Arial MT"/>
              </a:rPr>
              <a:t>CONCLUSIO</a:t>
            </a:r>
            <a:r>
              <a:rPr sz="4800" b="0" spc="-50" dirty="0">
                <a:solidFill>
                  <a:srgbClr val="000000"/>
                </a:solidFill>
                <a:latin typeface="Arial MT"/>
                <a:cs typeface="Arial MT"/>
              </a:rPr>
              <a:t>N</a:t>
            </a:r>
            <a:endParaRPr sz="4800" dirty="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047720" y="1277666"/>
            <a:ext cx="8239279" cy="4284934"/>
            <a:chOff x="2047721" y="2085820"/>
            <a:chExt cx="8096884" cy="268668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2484" y="2090583"/>
              <a:ext cx="8087031" cy="267683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052484" y="2090583"/>
              <a:ext cx="8087359" cy="2677160"/>
            </a:xfrm>
            <a:custGeom>
              <a:avLst/>
              <a:gdLst/>
              <a:ahLst/>
              <a:cxnLst/>
              <a:rect l="l" t="t" r="r" b="b"/>
              <a:pathLst>
                <a:path w="8087359" h="2677160">
                  <a:moveTo>
                    <a:pt x="0" y="0"/>
                  </a:moveTo>
                  <a:lnTo>
                    <a:pt x="8087031" y="0"/>
                  </a:lnTo>
                  <a:lnTo>
                    <a:pt x="8087031" y="2676834"/>
                  </a:lnTo>
                  <a:lnTo>
                    <a:pt x="0" y="267683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6D3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611284" y="2178811"/>
            <a:ext cx="5328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55675" algn="l"/>
                <a:tab pos="2644140" algn="l"/>
                <a:tab pos="4180204" algn="l"/>
              </a:tabLst>
            </a:pPr>
            <a:endParaRPr sz="24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93091" y="1567265"/>
            <a:ext cx="7205816" cy="37189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1800" dirty="0"/>
              <a:t>  </a:t>
            </a:r>
            <a:r>
              <a:rPr lang="en-IN" sz="1800" b="1" dirty="0"/>
              <a:t>Comprehensive Data Insights:</a:t>
            </a:r>
            <a:r>
              <a:rPr lang="en-IN" sz="1800" dirty="0"/>
              <a:t> The Starbucks Beverage Menu Analysis successfully demonstrated how raw nutritional data (Calories, Sugars (g), Total Fat (g), and Caffeine (mg)) can be transformed into actionable business intelligence. </a:t>
            </a:r>
          </a:p>
          <a:p>
            <a:r>
              <a:rPr lang="en-IN" sz="1800" dirty="0"/>
              <a:t>  </a:t>
            </a:r>
            <a:r>
              <a:rPr lang="en-IN" sz="1800" b="1" dirty="0"/>
              <a:t>Identification of High-Calorie Segments:</a:t>
            </a:r>
            <a:r>
              <a:rPr lang="en-IN" sz="1800" dirty="0"/>
              <a:t> Exploratory data analysis and statistical </a:t>
            </a:r>
            <a:r>
              <a:rPr lang="en-IN" sz="1800" dirty="0" err="1"/>
              <a:t>modeling</a:t>
            </a:r>
            <a:r>
              <a:rPr lang="en-IN" sz="1800" dirty="0"/>
              <a:t> revealed that specialty blended beverages and </a:t>
            </a:r>
            <a:r>
              <a:rPr lang="en-IN" sz="1800" dirty="0" err="1"/>
              <a:t>frappuccinos</a:t>
            </a:r>
            <a:r>
              <a:rPr lang="en-IN" sz="1800" dirty="0"/>
              <a:t> represent the primary high-calorie and high-sugar outliers on the menu. </a:t>
            </a:r>
          </a:p>
          <a:p>
            <a:r>
              <a:rPr lang="en-IN" sz="1800" dirty="0"/>
              <a:t>  </a:t>
            </a:r>
            <a:r>
              <a:rPr lang="en-IN" sz="1800" b="1" dirty="0"/>
              <a:t>Promotion of Healthy Alternatives:</a:t>
            </a:r>
            <a:r>
              <a:rPr lang="en-IN" sz="1800" dirty="0"/>
              <a:t> By highlighting light, low-calorie options (such as plain brewed coffees and teas), the project provides a framework for empowering customers to make informed, health-conscious dietary choices. </a:t>
            </a:r>
          </a:p>
          <a:p>
            <a:pPr>
              <a:lnSpc>
                <a:spcPct val="100000"/>
              </a:lnSpc>
              <a:spcBef>
                <a:spcPts val="100"/>
              </a:spcBef>
              <a:tabLst>
                <a:tab pos="1794510" algn="l"/>
                <a:tab pos="2335530" algn="l"/>
                <a:tab pos="3063240" algn="l"/>
                <a:tab pos="4366895" algn="l"/>
                <a:tab pos="4925060" algn="l"/>
              </a:tabLst>
            </a:pPr>
            <a:endParaRPr sz="240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23984" y="2961538"/>
            <a:ext cx="6951345" cy="398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just">
              <a:lnSpc>
                <a:spcPct val="113999"/>
              </a:lnSpc>
              <a:spcBef>
                <a:spcPts val="100"/>
              </a:spcBef>
            </a:pP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1766" y="6001640"/>
            <a:ext cx="194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96D3ED"/>
                </a:solidFill>
                <a:latin typeface="Arial MT"/>
                <a:cs typeface="Arial MT"/>
              </a:rPr>
              <a:t>12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165D048-0FFF-0929-76AB-28B1AFAD1487}"/>
              </a:ext>
            </a:extLst>
          </p:cNvPr>
          <p:cNvSpPr txBox="1"/>
          <p:nvPr/>
        </p:nvSpPr>
        <p:spPr>
          <a:xfrm>
            <a:off x="4648200" y="3044279"/>
            <a:ext cx="2667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</TotalTime>
  <Words>630</Words>
  <Application>Microsoft Office PowerPoint</Application>
  <PresentationFormat>Widescreen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Arial MT</vt:lpstr>
      <vt:lpstr>Symbol</vt:lpstr>
      <vt:lpstr>Times New Roman</vt:lpstr>
      <vt:lpstr>Office Theme</vt:lpstr>
      <vt:lpstr>DATA ANALYST</vt:lpstr>
      <vt:lpstr>CONTENTS</vt:lpstr>
      <vt:lpstr>ACKNOWLEDGEMENT</vt:lpstr>
      <vt:lpstr>BEGINNER LEVEL</vt:lpstr>
      <vt:lpstr>Bar Chart</vt:lpstr>
      <vt:lpstr>Scatter Plot</vt:lpstr>
      <vt:lpstr>Pie Chart</vt:lpstr>
      <vt:lpstr>Box Plot</vt:lpstr>
      <vt:lpstr>PowerPoint Presentation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ShadowFox-DS.pptx</dc:title>
  <cp:lastModifiedBy>sathya v</cp:lastModifiedBy>
  <cp:revision>1</cp:revision>
  <dcterms:created xsi:type="dcterms:W3CDTF">2026-09-25T06:21:07Z</dcterms:created>
  <dcterms:modified xsi:type="dcterms:W3CDTF">2026-09-28T04:54:37Z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2026-09-25T00:00:00Z</vt:filetime>
  </property>
  <property fmtid="{D5CDD505-2E9C-101B-9397-08002B2CF9AE}" pid="4" name="Creator">
    <vt:lpwstr>Google</vt:lpwstr>
  </property>
  <property fmtid="{D5CDD505-2E9C-101B-9397-08002B2CF9AE}" pid="5" name="LastSaved">
    <vt:filetime>2026-09-25T00:00:00Z</vt:filetime>
  </property>
</Properties>
</file>